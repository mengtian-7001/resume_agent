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02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502920"/>
            <a:ext cx="4572000" cy="20116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觅才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94944"/>
            <a:ext cx="5486400" cy="1828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智能筛选工作台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10515600" cy="8229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双 Agent 筛选工作流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00400"/>
            <a:ext cx="9326880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模型读懂文本，Harness 管住边界，两个 Agent 一产一审，人做最终决定。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881360" cy="13716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126480"/>
            <a:ext cx="10881360" cy="2743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系统可以错，但不能装对。录用权在人。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011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384048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觅才 · 筛选工作流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685800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模型读懂文本 · Harness 管住边界 · 两个 Agent 一产一审 · 人做最终决定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219456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黑框 =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19456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灰框 = Harness / 规则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585216"/>
            <a:ext cx="11430000" cy="10972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713232"/>
            <a:ext cx="640080" cy="89611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713232"/>
            <a:ext cx="10716768" cy="896112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7008" y="804672"/>
            <a:ext cx="3438144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招聘人员上传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 份 JD + N 份简历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804672"/>
            <a:ext cx="3438144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入口校验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格式 · 份数 · 大小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804672"/>
            <a:ext cx="3438144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当场拒收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不合法，不进模型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371600"/>
            <a:ext cx="10716768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坏文件直接拒。过关后才开始理解内容。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1627632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合法输入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8232" y="1792224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6373368" y="1865376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993392"/>
            <a:ext cx="640080" cy="10789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准备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1993392"/>
            <a:ext cx="10716768" cy="1078992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07008" y="2084832"/>
            <a:ext cx="3438144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抽出岗位标准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必备 / 年限 / 学历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8304" y="2084832"/>
            <a:ext cx="3438144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补岗位背景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术语语境，不证明候选人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084832"/>
            <a:ext cx="3438144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冻结 hard_gate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全员同一把尺子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7008" y="2679192"/>
            <a:ext cx="5193792" cy="3291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Fan-out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按简历并发，独立失败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2679192"/>
            <a:ext cx="5193792" cy="3291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抽出候选人画像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技能归一 · 字段带引用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3090672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每个候选人进入双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28232" y="3255264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6373368" y="3328416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474720"/>
            <a:ext cx="640080" cy="226771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992" y="3474720"/>
            <a:ext cx="10716768" cy="2267712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07008" y="3566160"/>
            <a:ext cx="4873752" cy="192024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16736" y="3621024"/>
            <a:ext cx="4654296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Construction 构建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736" y="3803904"/>
            <a:ext cx="4654296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写稿：把这个人讲清楚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93992" y="3566160"/>
            <a:ext cx="4873752" cy="192024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621024"/>
            <a:ext cx="4654296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Checker 审校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803904"/>
            <a:ext cx="4654296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质检：这句话站不站得住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6736" y="4023360"/>
            <a:ext cx="11292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Plan 规划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91740" y="4023360"/>
            <a:ext cx="11292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Act 取证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66744" y="4023360"/>
            <a:ext cx="11292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Reflect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1748" y="4023360"/>
            <a:ext cx="11292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出题决策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4517136"/>
            <a:ext cx="4654296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内环：证据不足 → 再调白名单工具；预算用尽必须停。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16736" y="4718304"/>
            <a:ext cx="1502664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硬门槛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模型抬不过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92552" y="4718304"/>
            <a:ext cx="1502664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规则分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可解释锚点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68368" y="4718304"/>
            <a:ext cx="1502664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模型评委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必须引用原文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6736" y="5248656"/>
            <a:ext cx="4654296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产出：优先级 · 原文证据 · ≥10 题 + 追问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03720" y="4023360"/>
            <a:ext cx="15209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证据能否定位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70392" y="4023360"/>
            <a:ext cx="15209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分与结论一致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37064" y="4023360"/>
            <a:ext cx="15209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题目能否验证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517136"/>
            <a:ext cx="4654296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拦住「了解→精通」、缺证据的推荐、不到 10 道题。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03720" y="4718304"/>
            <a:ext cx="2290572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patch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降级 / 加风险 / 补题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67444" y="4718304"/>
            <a:ext cx="2290572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fail-closed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质检挂了就复核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5248656"/>
            <a:ext cx="4654296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产出：问题清单 · 严重度 · 安全补丁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4224528"/>
            <a:ext cx="713232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交卷 →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90488" y="4553712"/>
            <a:ext cx="493776" cy="0"/>
          </a:xfrm>
          <a:prstGeom prst="line">
            <a:avLst/>
          </a:prstGeom>
          <a:ln w="1460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80760" y="4626864"/>
            <a:ext cx="713232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← 回修 1 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7008" y="5522976"/>
            <a:ext cx="10716768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共享合同和原文，不共享决策权。虚线最多回一次，不继续改到「看起来通过」。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74336" y="5742432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通过，或已达回修上限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28232" y="5907024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own Arrow 57"/>
          <p:cNvSpPr/>
          <p:nvPr/>
        </p:nvSpPr>
        <p:spPr>
          <a:xfrm>
            <a:off x="6373368" y="5980176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" y="6108192"/>
            <a:ext cx="640080" cy="585216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收口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8992" y="6108192"/>
            <a:ext cx="10716768" cy="585216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207008" y="6199632"/>
            <a:ext cx="3438144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Policy 只降不升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recommend → review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18304" y="6199632"/>
            <a:ext cx="3438144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交到工作台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分数 · 证据 · 轨迹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6199632"/>
            <a:ext cx="3438144" cy="402336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人做最终决定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验证自述 · 团队适配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011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566928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觅才 · Harness 控制流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04672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模型在哪些地方不准自由发挥：不让进 · 不让乱写 · 不让无限跑 · 不让装对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19456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强调框 = 运行时外壳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585216"/>
            <a:ext cx="11430000" cy="10972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713232"/>
            <a:ext cx="640080" cy="84124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进门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713232"/>
            <a:ext cx="10716768" cy="841248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07008" y="804672"/>
            <a:ext cx="3438144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入口校验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格式 · 份数 · 大小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804672"/>
            <a:ext cx="3438144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隔离不可信文本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JD/简历只当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804672"/>
            <a:ext cx="3438144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当场拒收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不合法，不调模型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316736"/>
            <a:ext cx="10716768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坏文件直接拒。模型还没出场。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1554480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合法输入才建合同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8232" y="1719072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6373368" y="1792224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1920240"/>
            <a:ext cx="640080" cy="84124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契约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" y="1920240"/>
            <a:ext cx="10716768" cy="841248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7008" y="2011680"/>
            <a:ext cx="3438144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冻结岗位标准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hard_gate 不可改写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2011680"/>
            <a:ext cx="3438144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固定 Schema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Construction / Checker 合同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011680"/>
            <a:ext cx="3438144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只写自己的字段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不能互相覆盖决策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523744"/>
            <a:ext cx="10716768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先把能写什么、不能改什么写死。后面的智能只能在合同里填空。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2761488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带着预算和白名单进入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28232" y="2926080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6373368" y="2999232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127248"/>
            <a:ext cx="640080" cy="2084831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运行时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" y="3127248"/>
            <a:ext cx="10716768" cy="2084831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07008" y="3218688"/>
            <a:ext cx="10460736" cy="1883664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6736" y="3236976"/>
            <a:ext cx="10259568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外壳包住两个 Agent，不让它们裸跑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6736" y="3474720"/>
            <a:ext cx="3364992" cy="420624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Budget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步数 · LLM 次数 · 截止 · 租约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3474720"/>
            <a:ext cx="3364992" cy="420624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Policy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7 个白名单工具 · 网页不当证据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3474720"/>
            <a:ext cx="3364992" cy="420624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Observe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agent_runs 逐步轨迹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16736" y="3968496"/>
            <a:ext cx="47640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Construction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规划、取证、出题。工具失败就跳过，用规则分兜底。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93992" y="3968496"/>
            <a:ext cx="47640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对照原文挑刺。不能发明经历，不能把红灯改绿灯。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078224"/>
            <a:ext cx="713232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交卷 →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90488" y="4334256"/>
            <a:ext cx="493776" cy="0"/>
          </a:xfrm>
          <a:prstGeom prst="line">
            <a:avLst/>
          </a:prstGeom>
          <a:ln w="1460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80760" y="4389120"/>
            <a:ext cx="713232" cy="1828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← 最多 1 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6736" y="4754880"/>
            <a:ext cx="10259568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回环有上限：证据不足可以再找，质检不通过最多回修一次。预算用尽必须停。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5212079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交卷后先验证，再决定能不能见人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5376671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6373368" y="5449823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5596128"/>
            <a:ext cx="640080" cy="1060704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出门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8992" y="5596128"/>
            <a:ext cx="10716768" cy="106070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207008" y="5687568"/>
            <a:ext cx="256032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Verify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引用定位 · 强度 · 题结构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0" y="5687568"/>
            <a:ext cx="256032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Degrade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recommend 只降不升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73952" y="5687568"/>
            <a:ext cx="256032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fail-closed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质检挂了就复核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07424" y="5687568"/>
            <a:ext cx="2560320" cy="530352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交给人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摊开证据和保留意见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7008" y="6291072"/>
            <a:ext cx="10716768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Harness 的最后一件事不是让结论更漂亮，而是不让系统装对。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011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594360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觅才 · 匹配打分怎么来的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41248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对齐开源 ATS：硬门槛单独拦，双路打分，0.60 / 0.40 合成。不是自拟权重。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强调框 = 开源公式落地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585216"/>
            <a:ext cx="11430000" cy="10972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94944"/>
            <a:ext cx="713232" cy="786384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依据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694944"/>
            <a:ext cx="10680192" cy="78638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3584" y="786384"/>
            <a:ext cx="3425952" cy="45720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ema-resume-ranker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0.60 LLM + 0.40 确定性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2688" y="786384"/>
            <a:ext cx="342595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ResuRank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文本：0.60 语义 + 0.40 TF-IDF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1792" y="786384"/>
            <a:ext cx="342595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HireLens / ResumeIQ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技能同义归一 + 分维打分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1280160"/>
            <a:ext cx="10680192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公开仓库的混合打分框架。LLM 略高看项目语境，确定性 40% 把幻觉拉住。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1481328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先过闸门，再打分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645920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6391656" y="1719072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847088"/>
            <a:ext cx="713232" cy="7132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硬门槛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5568" y="1847088"/>
            <a:ext cx="10680192" cy="713232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43584" y="1956816"/>
            <a:ext cx="2551176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年限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低于要求则不过门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67912" y="1956816"/>
            <a:ext cx="2551176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学历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低于要求则不过门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956816"/>
            <a:ext cx="2551176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必备覆盖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默认 50% 过门，缺口仍罚分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6568" y="1956816"/>
            <a:ext cx="2551176" cy="475488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不过门 → 不匹配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模型抬不了红灯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2624" y="2560320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过门后两路并行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724912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6391656" y="2798064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926080"/>
            <a:ext cx="713232" cy="20299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双路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" y="2926080"/>
            <a:ext cx="10680192" cy="2029968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43584" y="3017520"/>
            <a:ext cx="5157216" cy="1847088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3312" y="3072384"/>
            <a:ext cx="4937760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LLM Judge 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3255264"/>
            <a:ext cx="493776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ema-resume-ranker · 语境判断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3017520"/>
            <a:ext cx="5157216" cy="1847088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3072384"/>
            <a:ext cx="4937760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Deterministic 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3255264"/>
            <a:ext cx="493776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HireLens 分维 + ResuRank 文本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3474720"/>
            <a:ext cx="493776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分维打分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技能 / 经验 / 项目 / 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53312" y="3950208"/>
            <a:ext cx="493776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必须引用原文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只接受 JD 或简历，网页不算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53312" y="4425696"/>
            <a:ext cx="493776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±18 clamp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不能偏离确定性锚点太远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0256" y="3474720"/>
            <a:ext cx="493776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技能 40%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必备 70% + 加分 30%，先同义归一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0256" y="3950208"/>
            <a:ext cx="493776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经验 20% · 学历 10%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可解释、可复核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0256" y="4425696"/>
            <a:ext cx="493776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文本 30%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0.60 语义 + 0.40 TF-IDF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2624" y="4956048"/>
            <a:ext cx="2926080" cy="16459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加权合成，再映射决策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18288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6391656" y="5193792"/>
            <a:ext cx="128016" cy="9144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5321808"/>
            <a:ext cx="713232" cy="1335024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合成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15568" y="5321808"/>
            <a:ext cx="10680192" cy="133502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243584" y="5413248"/>
            <a:ext cx="10424160" cy="420624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总分 = 0.60 × 模型评委 + 0.40 × 确定性分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ema-resume-ranker Ensemble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43584" y="5907024"/>
            <a:ext cx="2551176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≥ 75 推荐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绿灯，仍要证据撑住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67912" y="5907024"/>
            <a:ext cx="2551176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60–75 复核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黄灯，交给招聘人员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5907024"/>
            <a:ext cx="2551176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&lt; 60 或不匹配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不过门槛或分不够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16568" y="5907024"/>
            <a:ext cx="2551176" cy="438912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Checker 只降不升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7C7CC"/>
                </a:solidFill>
                <a:latin typeface="PingFang SC"/>
                <a:ea typeface="PingFang SC"/>
                <a:cs typeface="PingFang SC"/>
              </a:rPr>
              <a:t>推荐可变复核，不能加分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3584" y="6400800"/>
            <a:ext cx="10680192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开源给打分框架。我们加 clamp、证据绑定，以及质检失败时 fail-closed。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011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731520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觅才 · 评测分权重依据对照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10515600" cy="16459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主公式直接采用开源 Ensemble；分维是方法对齐；闸门 / clamp / 质检是我方 Harness。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585216"/>
            <a:ext cx="11430000" cy="10972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749808"/>
          <a:ext cx="11430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246120"/>
                <a:gridCol w="3063240"/>
                <a:gridCol w="2971800"/>
              </a:tblGrid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评测项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我们的权重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对应方式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总分 Ensemble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0.60 LLM + 0.40 确定性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ema-resume-ranker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直接采用主公式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文本分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0.60 语义 + 0.40 TF-IDF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ResuRank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直接采用文本公式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低重合文本分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Jaccard&lt;0.08 → 0.35 / 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ResuRank divergence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方法对齐（未照搬压到 10%）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必备 70% + 加分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HireLens / 常见 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方法对齐：先归一再覆盖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确定性合成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技能40 经验20 学历10 文本30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ai-resume-screener 分维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方法对齐：先合成一路再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技能同义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别名表 → 规范名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HireLens ESCO / ResumeIQ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方法对齐，词表自行维护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硬门槛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不过门 = 不匹配，不进加权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常见 ATS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方法对齐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决策阈值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75 推荐 / 60 复核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评测协议 scoring_ref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我方标定，可配置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  <a:tr h="5153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LLM clamp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相对确定性锚点 ±18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我方 Harness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我方约束，防模型带跑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  <a:tr h="51539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Checker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recommend 只降成 review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我方 Harness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我方约束，不改开源公式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6510528"/>
            <a:ext cx="11430000" cy="20116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不是用录用数据训出的最优权重。评测验证的是门槛、排序方向和降级规则，与 matching_eval.scoring_ref 同一把尺子。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